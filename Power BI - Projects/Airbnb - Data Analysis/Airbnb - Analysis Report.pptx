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2" r:id="rId4"/>
    <p:sldId id="271" r:id="rId5"/>
    <p:sldId id="273" r:id="rId6"/>
    <p:sldId id="274" r:id="rId7"/>
    <p:sldId id="275" r:id="rId8"/>
    <p:sldId id="277" r:id="rId9"/>
    <p:sldId id="276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39031-A340-46CF-83DA-C1968ADFF56A}" v="1" dt="2025-11-23T01:01:17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tty, Numika Ulhas" userId="205a35b5-9f00-4be2-8410-85b74302a747" providerId="ADAL" clId="{07139031-A340-46CF-83DA-C1968ADFF56A}"/>
    <pc:docChg chg="modSld">
      <pc:chgData name="Shetty, Numika Ulhas" userId="205a35b5-9f00-4be2-8410-85b74302a747" providerId="ADAL" clId="{07139031-A340-46CF-83DA-C1968ADFF56A}" dt="2025-11-23T01:01:22.853" v="64" actId="20577"/>
      <pc:docMkLst>
        <pc:docMk/>
      </pc:docMkLst>
      <pc:sldChg chg="modSp mod">
        <pc:chgData name="Shetty, Numika Ulhas" userId="205a35b5-9f00-4be2-8410-85b74302a747" providerId="ADAL" clId="{07139031-A340-46CF-83DA-C1968ADFF56A}" dt="2025-11-23T01:01:22.853" v="64" actId="20577"/>
        <pc:sldMkLst>
          <pc:docMk/>
          <pc:sldMk cId="1767089833" sldId="271"/>
        </pc:sldMkLst>
        <pc:spChg chg="mod">
          <ac:chgData name="Shetty, Numika Ulhas" userId="205a35b5-9f00-4be2-8410-85b74302a747" providerId="ADAL" clId="{07139031-A340-46CF-83DA-C1968ADFF56A}" dt="2025-11-23T01:01:22.853" v="64" actId="20577"/>
          <ac:spMkLst>
            <pc:docMk/>
            <pc:sldMk cId="1767089833" sldId="271"/>
            <ac:spMk id="3" creationId="{019E6224-63F9-ADE2-738B-48392E1C8E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671505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27" y="1298448"/>
            <a:ext cx="4421384" cy="4099642"/>
          </a:xfrm>
        </p:spPr>
        <p:txBody>
          <a:bodyPr anchor="b">
            <a:normAutofit/>
          </a:bodyPr>
          <a:lstStyle/>
          <a:p>
            <a:pPr algn="l">
              <a:defRPr>
                <a:solidFill>
                  <a:srgbClr val="E31C40"/>
                </a:solidFill>
              </a:defRPr>
            </a:pPr>
            <a:r>
              <a:rPr lang="en-US" sz="5700" dirty="0">
                <a:solidFill>
                  <a:srgbClr val="FFFFFF"/>
                </a:solidFill>
              </a:rPr>
              <a:t>Airbnb Insights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6450" y="1122363"/>
            <a:ext cx="2628900" cy="4269549"/>
          </a:xfrm>
        </p:spPr>
        <p:txBody>
          <a:bodyPr anchor="b">
            <a:normAutofit/>
          </a:bodyPr>
          <a:lstStyle/>
          <a:p>
            <a:pPr algn="l"/>
            <a:r>
              <a:rPr lang="en-IN" dirty="0"/>
              <a:t>Numika Shetty (ABADS – B20)</a:t>
            </a:r>
            <a:endParaRPr lang="en-IN"/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62635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989" y="5626353"/>
            <a:ext cx="2609715" cy="18288"/>
          </a:xfrm>
          <a:custGeom>
            <a:avLst/>
            <a:gdLst>
              <a:gd name="connsiteX0" fmla="*/ 0 w 2609715"/>
              <a:gd name="connsiteY0" fmla="*/ 0 h 18288"/>
              <a:gd name="connsiteX1" fmla="*/ 626332 w 2609715"/>
              <a:gd name="connsiteY1" fmla="*/ 0 h 18288"/>
              <a:gd name="connsiteX2" fmla="*/ 1278760 w 2609715"/>
              <a:gd name="connsiteY2" fmla="*/ 0 h 18288"/>
              <a:gd name="connsiteX3" fmla="*/ 1931189 w 2609715"/>
              <a:gd name="connsiteY3" fmla="*/ 0 h 18288"/>
              <a:gd name="connsiteX4" fmla="*/ 2609715 w 2609715"/>
              <a:gd name="connsiteY4" fmla="*/ 0 h 18288"/>
              <a:gd name="connsiteX5" fmla="*/ 2609715 w 2609715"/>
              <a:gd name="connsiteY5" fmla="*/ 18288 h 18288"/>
              <a:gd name="connsiteX6" fmla="*/ 1957286 w 2609715"/>
              <a:gd name="connsiteY6" fmla="*/ 18288 h 18288"/>
              <a:gd name="connsiteX7" fmla="*/ 1357052 w 2609715"/>
              <a:gd name="connsiteY7" fmla="*/ 18288 h 18288"/>
              <a:gd name="connsiteX8" fmla="*/ 756817 w 2609715"/>
              <a:gd name="connsiteY8" fmla="*/ 18288 h 18288"/>
              <a:gd name="connsiteX9" fmla="*/ 0 w 2609715"/>
              <a:gd name="connsiteY9" fmla="*/ 18288 h 18288"/>
              <a:gd name="connsiteX10" fmla="*/ 0 w 2609715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9715" h="18288" fill="none" extrusionOk="0">
                <a:moveTo>
                  <a:pt x="0" y="0"/>
                </a:moveTo>
                <a:cubicBezTo>
                  <a:pt x="283276" y="6411"/>
                  <a:pt x="352876" y="-4376"/>
                  <a:pt x="626332" y="0"/>
                </a:cubicBezTo>
                <a:cubicBezTo>
                  <a:pt x="899788" y="4376"/>
                  <a:pt x="984795" y="8792"/>
                  <a:pt x="1278760" y="0"/>
                </a:cubicBezTo>
                <a:cubicBezTo>
                  <a:pt x="1572725" y="-8792"/>
                  <a:pt x="1637724" y="7668"/>
                  <a:pt x="1931189" y="0"/>
                </a:cubicBezTo>
                <a:cubicBezTo>
                  <a:pt x="2224654" y="-7668"/>
                  <a:pt x="2304540" y="-27069"/>
                  <a:pt x="2609715" y="0"/>
                </a:cubicBezTo>
                <a:cubicBezTo>
                  <a:pt x="2609561" y="8655"/>
                  <a:pt x="2608831" y="9975"/>
                  <a:pt x="2609715" y="18288"/>
                </a:cubicBezTo>
                <a:cubicBezTo>
                  <a:pt x="2465462" y="44785"/>
                  <a:pt x="2255189" y="1376"/>
                  <a:pt x="1957286" y="18288"/>
                </a:cubicBezTo>
                <a:cubicBezTo>
                  <a:pt x="1659383" y="35200"/>
                  <a:pt x="1562734" y="6078"/>
                  <a:pt x="1357052" y="18288"/>
                </a:cubicBezTo>
                <a:cubicBezTo>
                  <a:pt x="1151370" y="30498"/>
                  <a:pt x="893393" y="36847"/>
                  <a:pt x="756817" y="18288"/>
                </a:cubicBezTo>
                <a:cubicBezTo>
                  <a:pt x="620241" y="-271"/>
                  <a:pt x="309020" y="-1293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609715" h="18288" stroke="0" extrusionOk="0">
                <a:moveTo>
                  <a:pt x="0" y="0"/>
                </a:moveTo>
                <a:cubicBezTo>
                  <a:pt x="213927" y="5385"/>
                  <a:pt x="459211" y="-16832"/>
                  <a:pt x="626332" y="0"/>
                </a:cubicBezTo>
                <a:cubicBezTo>
                  <a:pt x="793453" y="16832"/>
                  <a:pt x="1001999" y="-15497"/>
                  <a:pt x="1200469" y="0"/>
                </a:cubicBezTo>
                <a:cubicBezTo>
                  <a:pt x="1398939" y="15497"/>
                  <a:pt x="1608397" y="-18886"/>
                  <a:pt x="1905092" y="0"/>
                </a:cubicBezTo>
                <a:cubicBezTo>
                  <a:pt x="2201787" y="18886"/>
                  <a:pt x="2405176" y="14775"/>
                  <a:pt x="2609715" y="0"/>
                </a:cubicBezTo>
                <a:cubicBezTo>
                  <a:pt x="2610129" y="5928"/>
                  <a:pt x="2609945" y="11133"/>
                  <a:pt x="2609715" y="18288"/>
                </a:cubicBezTo>
                <a:cubicBezTo>
                  <a:pt x="2437672" y="45501"/>
                  <a:pt x="2157047" y="37158"/>
                  <a:pt x="2009481" y="18288"/>
                </a:cubicBezTo>
                <a:cubicBezTo>
                  <a:pt x="1861915" y="-582"/>
                  <a:pt x="1705933" y="12780"/>
                  <a:pt x="1409246" y="18288"/>
                </a:cubicBezTo>
                <a:cubicBezTo>
                  <a:pt x="1112559" y="23796"/>
                  <a:pt x="883204" y="12235"/>
                  <a:pt x="704623" y="18288"/>
                </a:cubicBezTo>
                <a:cubicBezTo>
                  <a:pt x="526042" y="24341"/>
                  <a:pt x="274196" y="39038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E27B2-F33A-FB09-8260-6C3D5001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4A9D1-7D7C-F633-60E3-FBE3155C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>
                <a:solidFill>
                  <a:srgbClr val="E31C40"/>
                </a:solidFill>
              </a:defRPr>
            </a:pPr>
            <a:r>
              <a:rPr lang="en-US" sz="4300">
                <a:solidFill>
                  <a:srgbClr val="FFFFFF"/>
                </a:solidFill>
              </a:rPr>
              <a:t>Analysis of Airbnb Data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2C169-8EEA-E0DC-2457-CFB7C5250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Comprehensive Business Insights from Listings and Reviews Data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 b="1" dirty="0"/>
              <a:t>Project Context:</a:t>
            </a:r>
            <a:r>
              <a:rPr lang="en-US" sz="1900" dirty="0"/>
              <a:t> Analysis of Airbnb datasets to uncover insights into listings, pricing, and host performance across cities.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 b="1" dirty="0"/>
              <a:t>Objective:</a:t>
            </a:r>
            <a:r>
              <a:rPr lang="en-US" sz="1900" dirty="0"/>
              <a:t> Transform raw listings and reviews data into actionable insights for decision-making.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 b="1" dirty="0"/>
              <a:t>Tools Used:</a:t>
            </a:r>
            <a:r>
              <a:rPr lang="en-US" sz="1900" dirty="0"/>
              <a:t> Power BI, Listings.csv, Reviews.csv, and data dictionaries.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 b="1" dirty="0"/>
              <a:t>Organization:</a:t>
            </a:r>
            <a:r>
              <a:rPr lang="en-US" sz="1900" dirty="0"/>
              <a:t> Conducted by </a:t>
            </a:r>
            <a:r>
              <a:rPr lang="en-US" sz="1900" i="1"/>
              <a:t>iVision</a:t>
            </a:r>
            <a:r>
              <a:rPr lang="en-US" sz="1900" i="1" dirty="0"/>
              <a:t> Analytics</a:t>
            </a:r>
            <a:r>
              <a:rPr lang="en-US" sz="1900" dirty="0"/>
              <a:t> to understand Airbnb’s business performance and guest experience.</a:t>
            </a:r>
            <a:endParaRPr lang="en-US" sz="1900"/>
          </a:p>
          <a:p>
            <a:pPr marL="0" indent="0">
              <a:lnSpc>
                <a:spcPct val="90000"/>
              </a:lnSpc>
              <a:buNone/>
            </a:pPr>
            <a:br>
              <a:rPr lang="en-US" sz="1900" dirty="0"/>
            </a:br>
            <a:r>
              <a:rPr lang="en-US" sz="1900" dirty="0"/>
              <a:t>This presentation explores how Power BI was used to analyze Airbnb’s global dataset. It aims to uncover operational patterns, guest satisfaction trends, and pricing insights that can inform business strategy.</a:t>
            </a:r>
            <a:endParaRPr lang="en-US" sz="1900"/>
          </a:p>
          <a:p>
            <a:pPr>
              <a:lnSpc>
                <a:spcPct val="90000"/>
              </a:lnSpc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6768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20EE5-9995-896B-D244-F31BC4C7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Project Overview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EBDF-90D0-9EFC-2AFD-A8C4386B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Airbnb operates a marketplace for short-term accommodations and experiences.</a:t>
            </a:r>
          </a:p>
          <a:p>
            <a:pPr lvl="0"/>
            <a:r>
              <a:rPr lang="en-IN" sz="1900"/>
              <a:t>Founded in 2008, now a leading global platform.</a:t>
            </a:r>
          </a:p>
          <a:p>
            <a:pPr lvl="0"/>
            <a:r>
              <a:rPr lang="en-IN" sz="1900"/>
              <a:t>Project’s aim: Derive insights from listings and reviews using Power BI visualization.</a:t>
            </a:r>
          </a:p>
          <a:p>
            <a:pPr lvl="0"/>
            <a:r>
              <a:rPr lang="en-IN" sz="1900"/>
              <a:t>Focus areas: user satisfaction, pricing trends, host performance, and location quality.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We start by examining Airbnb as a business and the rationale behind this analysis—leveraging data to understand patterns in guest experience, pricing, and operational performance.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151095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E4FBE-06FC-72E8-C2FF-B50A73C9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Dataset Description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6224-63F9-ADE2-738B-48392E1C8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 b="1" dirty="0"/>
              <a:t>Listings.csv:</a:t>
            </a:r>
            <a:r>
              <a:rPr lang="en-IN" sz="1900" dirty="0"/>
              <a:t> Contains property details such as location, price, host data, property type, and review scores.</a:t>
            </a:r>
          </a:p>
          <a:p>
            <a:pPr lvl="0"/>
            <a:r>
              <a:rPr lang="en-IN" sz="1900" b="1" dirty="0"/>
              <a:t>Reviews.csv:</a:t>
            </a:r>
            <a:r>
              <a:rPr lang="en-IN" sz="1900" dirty="0"/>
              <a:t> </a:t>
            </a:r>
            <a:r>
              <a:rPr lang="en-IN" sz="1900"/>
              <a:t>Captures </a:t>
            </a:r>
            <a:r>
              <a:rPr lang="en-US" sz="2000"/>
              <a:t>information </a:t>
            </a:r>
            <a:r>
              <a:rPr lang="en-US" sz="2000" dirty="0"/>
              <a:t>about reviews left for Airbnb listings</a:t>
            </a:r>
            <a:endParaRPr lang="en-IN" sz="1900" dirty="0"/>
          </a:p>
          <a:p>
            <a:pPr lvl="0"/>
            <a:r>
              <a:rPr lang="en-IN" sz="1900" b="1" dirty="0"/>
              <a:t>Data Dictionaries:</a:t>
            </a:r>
            <a:r>
              <a:rPr lang="en-IN" sz="1900" dirty="0"/>
              <a:t> Provide schema and attribute meanings.</a:t>
            </a:r>
          </a:p>
          <a:p>
            <a:pPr lvl="0"/>
            <a:r>
              <a:rPr lang="en-IN" sz="1900" b="1" dirty="0"/>
              <a:t>Data Preparation:</a:t>
            </a:r>
            <a:r>
              <a:rPr lang="en-IN" sz="1900" dirty="0"/>
              <a:t> Cleaning, transformation, excluding outliers in price , mapping tables and merging done in Power BI</a:t>
            </a:r>
          </a:p>
          <a:p>
            <a:pPr marL="0" indent="0">
              <a:buNone/>
            </a:pPr>
            <a:br>
              <a:rPr lang="en-IN" sz="1900" dirty="0"/>
            </a:br>
            <a:r>
              <a:rPr lang="en-IN" sz="1900" dirty="0"/>
              <a:t>The project used two core datasets—Listings and Reviews—alongside metadata for schema understanding. Proper data preparation was crucial for ensuring accurate and insightful analysis.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76708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FC593-122B-23C7-4862-F4B7C5B0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Analytical Objectives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4940-83DC-2AC3-EFD3-888BA508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Identify districts with </a:t>
            </a:r>
            <a:r>
              <a:rPr lang="en-IN" sz="1900" b="1"/>
              <a:t>lowest location scores</a:t>
            </a:r>
            <a:r>
              <a:rPr lang="en-IN" sz="1900"/>
              <a:t>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Analyze how </a:t>
            </a:r>
            <a:r>
              <a:rPr lang="en-IN" sz="1900" b="1"/>
              <a:t>host response time</a:t>
            </a:r>
            <a:r>
              <a:rPr lang="en-IN" sz="1900"/>
              <a:t> affects overall ratings.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Visualize </a:t>
            </a:r>
            <a:r>
              <a:rPr lang="en-IN" sz="1900" b="1"/>
              <a:t>Airbnb pricing patterns</a:t>
            </a:r>
            <a:r>
              <a:rPr lang="en-IN" sz="1900"/>
              <a:t> across cities.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Create and analyze a </a:t>
            </a:r>
            <a:r>
              <a:rPr lang="en-IN" sz="1900" b="1"/>
              <a:t>composite score</a:t>
            </a:r>
            <a:r>
              <a:rPr lang="en-IN" sz="1900"/>
              <a:t> combining host communication and check-in experience.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Calculate </a:t>
            </a:r>
            <a:r>
              <a:rPr lang="en-IN" sz="1900" b="1"/>
              <a:t>listing age and host tenure</a:t>
            </a:r>
            <a:r>
              <a:rPr lang="en-IN" sz="1900"/>
              <a:t>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Evaluate </a:t>
            </a:r>
            <a:r>
              <a:rPr lang="en-IN" sz="1900" b="1"/>
              <a:t>property type vs price</a:t>
            </a:r>
            <a:r>
              <a:rPr lang="en-IN" sz="1900"/>
              <a:t> using tree maps.</a:t>
            </a:r>
          </a:p>
          <a:p>
            <a:pPr marL="514350" lvl="0" indent="-514350">
              <a:lnSpc>
                <a:spcPct val="90000"/>
              </a:lnSpc>
              <a:buFont typeface="+mj-lt"/>
              <a:buAutoNum type="arabicPeriod"/>
            </a:pPr>
            <a:r>
              <a:rPr lang="en-IN" sz="1900"/>
              <a:t>Compare </a:t>
            </a:r>
            <a:r>
              <a:rPr lang="en-IN" sz="1900" b="1"/>
              <a:t>visitor trends pre-2020 and during 2020</a:t>
            </a:r>
            <a:r>
              <a:rPr lang="en-IN" sz="1900"/>
              <a:t>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900"/>
            </a:br>
            <a:r>
              <a:rPr lang="en-IN" sz="1900"/>
              <a:t>These objectives were designed to capture both operational and customer-centric insights—helping understand what drives satisfaction and profitability.</a:t>
            </a:r>
          </a:p>
          <a:p>
            <a:pPr>
              <a:lnSpc>
                <a:spcPct val="90000"/>
              </a:lnSpc>
            </a:pPr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108899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E450F-E31A-A18B-5E93-1F98766B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District Location Scores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6810-563B-A23D-06DB-124E4210B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Mapped all listings by district and location score.</a:t>
            </a:r>
          </a:p>
          <a:p>
            <a:pPr lvl="0"/>
            <a:r>
              <a:rPr lang="en-IN" sz="1900"/>
              <a:t>Found clear performance gaps between urban and suburban areas.</a:t>
            </a:r>
          </a:p>
          <a:p>
            <a:pPr lvl="0"/>
            <a:r>
              <a:rPr lang="en-IN" sz="1900"/>
              <a:t>Districts with poor scores often had limited amenities or low host responsiveness.</a:t>
            </a:r>
          </a:p>
          <a:p>
            <a:pPr lvl="0"/>
            <a:r>
              <a:rPr lang="en-IN" sz="1900"/>
              <a:t>Visualization: Area chart of average location scores per district.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This insight allows Airbnb to identify underperforming regions and prioritize improvement strategies—especially in less popular districts.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182584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1EA24-68E7-1425-B608-210FFD30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Host Response Time vs Ratings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ADA7-B757-843A-FD5C-80317F68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Strong positive correlation between </a:t>
            </a:r>
            <a:r>
              <a:rPr lang="en-IN" sz="1900" b="1"/>
              <a:t>fast host responses</a:t>
            </a:r>
            <a:r>
              <a:rPr lang="en-IN" sz="1900"/>
              <a:t> and </a:t>
            </a:r>
            <a:r>
              <a:rPr lang="en-IN" sz="1900" b="1"/>
              <a:t>higher overall ratings</a:t>
            </a:r>
            <a:r>
              <a:rPr lang="en-IN" sz="1900"/>
              <a:t>.</a:t>
            </a:r>
          </a:p>
          <a:p>
            <a:pPr lvl="0"/>
            <a:r>
              <a:rPr lang="en-IN" sz="1900"/>
              <a:t>Listings with response times under 1 hour scored higher than others.</a:t>
            </a:r>
          </a:p>
          <a:p>
            <a:pPr lvl="0"/>
            <a:r>
              <a:rPr lang="en-IN" sz="1900"/>
              <a:t>Visualized using line chart in Power BI.</a:t>
            </a:r>
          </a:p>
          <a:p>
            <a:pPr lvl="0"/>
            <a:r>
              <a:rPr lang="en-IN" sz="1900"/>
              <a:t>Suggests responsiveness is a key factor in guest satisfaction.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Improving host responsiveness directly enhances guest experience and platform reputation. This is a vital operational insight for training and monitoring hosts.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62180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95A96-6473-E063-D90C-6B55C69F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300" b="1">
                <a:solidFill>
                  <a:srgbClr val="FFFFFF"/>
                </a:solidFill>
              </a:rPr>
              <a:t>Price Analysis by City &amp; Property Type</a:t>
            </a:r>
            <a:endParaRPr lang="en-IN" sz="43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7E77D-B6CF-CFAC-B6C4-D8D2AA218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Average prices vary significantly by city and room type.</a:t>
            </a:r>
          </a:p>
          <a:p>
            <a:pPr lvl="0"/>
            <a:r>
              <a:rPr lang="en-IN" sz="1900"/>
              <a:t>Entire properties show the </a:t>
            </a:r>
            <a:r>
              <a:rPr lang="en-IN" sz="1900" b="1"/>
              <a:t>highest average price</a:t>
            </a:r>
            <a:r>
              <a:rPr lang="en-IN" sz="1900"/>
              <a:t>, particularly in major metros.</a:t>
            </a:r>
          </a:p>
          <a:p>
            <a:pPr lvl="0"/>
            <a:r>
              <a:rPr lang="en-IN" sz="1900"/>
              <a:t>Tree map used to display </a:t>
            </a:r>
            <a:r>
              <a:rPr lang="en-IN" sz="1900" b="1"/>
              <a:t>price distribution </a:t>
            </a:r>
            <a:r>
              <a:rPr lang="en-IN" sz="1900"/>
              <a:t>by</a:t>
            </a:r>
            <a:r>
              <a:rPr lang="en-IN" sz="1900" b="1"/>
              <a:t> property type </a:t>
            </a:r>
            <a:r>
              <a:rPr lang="en-IN" sz="1900"/>
              <a:t>and</a:t>
            </a:r>
            <a:r>
              <a:rPr lang="en-IN" sz="1900" b="1"/>
              <a:t> </a:t>
            </a:r>
            <a:r>
              <a:rPr lang="en-IN" sz="1900"/>
              <a:t>clustered bar chart by</a:t>
            </a:r>
            <a:r>
              <a:rPr lang="en-IN" sz="1900" b="1"/>
              <a:t> City</a:t>
            </a:r>
            <a:endParaRPr lang="en-IN" sz="1900"/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This analysis highlights how pricing strategies differ across property categories and geographies. It supports both competitive analysis and pricing optimization.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321302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B03E9-E982-C9ED-7B30-7CFD8BEF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Listing Age &amp; Host Tenure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AEEC-7755-A173-D4A2-87E4D04A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Hosts with </a:t>
            </a:r>
            <a:r>
              <a:rPr lang="en-IN" sz="1900" b="1"/>
              <a:t>10+ years of experience</a:t>
            </a:r>
            <a:r>
              <a:rPr lang="en-IN" sz="1900"/>
              <a:t> found to maintain better average ratings.</a:t>
            </a:r>
          </a:p>
          <a:p>
            <a:pPr lvl="0"/>
            <a:r>
              <a:rPr lang="en-IN" sz="1900"/>
              <a:t>Newer hosts more likely to have fluctuating ratings due to learning curve.</a:t>
            </a:r>
          </a:p>
          <a:p>
            <a:pPr lvl="0"/>
            <a:r>
              <a:rPr lang="en-IN" sz="1900"/>
              <a:t>Insights visualized using bar and line charts and pie chart to display the host tenure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Experience plays a major role in quality consistency. Veteran hosts can mentor new entrants, improving platform reliability.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583936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15113-989C-E769-EE18-601986C7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300" b="1">
                <a:solidFill>
                  <a:srgbClr val="FFFFFF"/>
                </a:solidFill>
              </a:rPr>
              <a:t>Composite Scores – Check-In &amp; Communication</a:t>
            </a:r>
            <a:endParaRPr lang="en-IN" sz="43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6553-01ED-B814-D9D8-10F836494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Created a </a:t>
            </a:r>
            <a:r>
              <a:rPr lang="en-IN" sz="1900" b="1"/>
              <a:t>composite index</a:t>
            </a:r>
            <a:r>
              <a:rPr lang="en-IN" sz="1900"/>
              <a:t> from check-in and communication ratings.</a:t>
            </a:r>
          </a:p>
          <a:p>
            <a:pPr lvl="0"/>
            <a:r>
              <a:rPr lang="en-IN" sz="1900"/>
              <a:t>Districts with high composite scores had better repeat-guest ratios.</a:t>
            </a:r>
          </a:p>
          <a:p>
            <a:pPr lvl="0"/>
            <a:r>
              <a:rPr lang="en-IN" sz="1900"/>
              <a:t>Visualization: Bubble chart or line and clustered column showing composite vs. overall rating.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This metric provides a holistic measure of host quality—useful for ranking listings or creating a “Superhost” benchmark.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260040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53FF6-E364-5FB8-675B-39AB78C1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>
                <a:solidFill>
                  <a:srgbClr val="FFFFFF"/>
                </a:solidFill>
              </a:rPr>
              <a:t>City Insights &amp; Visitor Trends</a:t>
            </a:r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039A-726D-C45A-1A8C-9EB33C515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/>
            <a:r>
              <a:rPr lang="en-IN" sz="1900"/>
              <a:t>City-level dashboards show listing price, guest rating, and visitor counts.</a:t>
            </a:r>
          </a:p>
          <a:p>
            <a:pPr lvl="0"/>
            <a:r>
              <a:rPr lang="en-IN" sz="1900"/>
              <a:t>Clear </a:t>
            </a:r>
            <a:r>
              <a:rPr lang="en-IN" sz="1900" b="1"/>
              <a:t>decline in visitor activity during 2020</a:t>
            </a:r>
            <a:r>
              <a:rPr lang="en-IN" sz="1900"/>
              <a:t> due to global travel restrictions.</a:t>
            </a:r>
          </a:p>
          <a:p>
            <a:pPr lvl="0"/>
            <a:r>
              <a:rPr lang="en-IN" sz="1900"/>
              <a:t>Year-over-year trend line used for dynamic exploration.</a:t>
            </a:r>
          </a:p>
          <a:p>
            <a:pPr marL="0" indent="0">
              <a:buNone/>
            </a:pPr>
            <a:br>
              <a:rPr lang="en-IN" sz="1900"/>
            </a:br>
            <a:r>
              <a:rPr lang="en-IN" sz="1900"/>
              <a:t>The COVID-19 period marks a sharp inflection in Airbnb’s data. Power BI’s interactive visuals allow stakeholders to explore these shifts in visitor patterns dynamically.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267004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7B576-0C8A-77A9-A70E-0234A54B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300" b="1">
                <a:solidFill>
                  <a:srgbClr val="FFFFFF"/>
                </a:solidFill>
              </a:rPr>
              <a:t>Conclusions &amp; Recommendations</a:t>
            </a:r>
            <a:endParaRPr lang="en-IN" sz="43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A229-5390-4220-1599-92DCDD58C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en-IN" sz="1800"/>
              <a:t>Fast host response and high communication scores are the strongest rating drivers.</a:t>
            </a:r>
          </a:p>
          <a:p>
            <a:pPr lvl="0">
              <a:lnSpc>
                <a:spcPct val="90000"/>
              </a:lnSpc>
            </a:pPr>
            <a:r>
              <a:rPr lang="en-IN" sz="1800"/>
              <a:t>Urban centres yield higher average prices but also greater volatility.</a:t>
            </a:r>
          </a:p>
          <a:p>
            <a:pPr lvl="0">
              <a:lnSpc>
                <a:spcPct val="90000"/>
              </a:lnSpc>
            </a:pPr>
            <a:r>
              <a:rPr lang="en-IN" sz="1800"/>
              <a:t>Long-tenured hosts provide more consistent experiences.</a:t>
            </a:r>
          </a:p>
          <a:p>
            <a:pPr lvl="0">
              <a:lnSpc>
                <a:spcPct val="90000"/>
              </a:lnSpc>
            </a:pPr>
            <a:r>
              <a:rPr lang="en-IN" sz="1800"/>
              <a:t>Suggested Actions: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Encourage quicker response time among hosts.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Use composite score for quality benchmarking.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Expand in high-performing districts while improving low-rated ones.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800"/>
            </a:br>
            <a:r>
              <a:rPr lang="en-IN" sz="1800"/>
              <a:t>In summary, this Power BI analysis translates complex Airbnb data into actionable insights. The findings can guide operational enhancements, pricing optimization, and customer experience improvements.</a:t>
            </a:r>
          </a:p>
          <a:p>
            <a:pPr>
              <a:lnSpc>
                <a:spcPct val="90000"/>
              </a:lnSpc>
            </a:pP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21724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888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Airbnb Insights Using Power BI</vt:lpstr>
      <vt:lpstr>Analysis of Airbnb Data Using Power BI</vt:lpstr>
      <vt:lpstr>Project Overview</vt:lpstr>
      <vt:lpstr>Dataset Description</vt:lpstr>
      <vt:lpstr>Analytical Objectives</vt:lpstr>
      <vt:lpstr>District Location Scores</vt:lpstr>
      <vt:lpstr>Host Response Time vs Ratings</vt:lpstr>
      <vt:lpstr>Price Analysis by City &amp; Property Type</vt:lpstr>
      <vt:lpstr>Listing Age &amp; Host Tenure</vt:lpstr>
      <vt:lpstr>Composite Scores – Check-In &amp; Communication</vt:lpstr>
      <vt:lpstr>City Insights &amp; Visitor Trends</vt:lpstr>
      <vt:lpstr>Conclusions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Shetty, Numika Ulhas</cp:lastModifiedBy>
  <cp:revision>5</cp:revision>
  <dcterms:created xsi:type="dcterms:W3CDTF">2013-01-27T09:14:16Z</dcterms:created>
  <dcterms:modified xsi:type="dcterms:W3CDTF">2025-11-23T01:01:26Z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2025-11-20T03:31:35Z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c152bf6a-d5e7-4c87-a065-c2a2ca60b0bd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